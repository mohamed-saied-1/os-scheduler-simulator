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1" r:id="rId4"/>
    <p:sldId id="273" r:id="rId5"/>
    <p:sldId id="274" r:id="rId6"/>
    <p:sldId id="259" r:id="rId7"/>
    <p:sldId id="272" r:id="rId8"/>
    <p:sldId id="276" r:id="rId9"/>
    <p:sldId id="275" r:id="rId10"/>
    <p:sldId id="277" r:id="rId11"/>
    <p:sldId id="278" r:id="rId12"/>
    <p:sldId id="279" r:id="rId13"/>
    <p:sldId id="280" r:id="rId14"/>
    <p:sldId id="281" r:id="rId15"/>
    <p:sldId id="269" r:id="rId16"/>
  </p:sldIdLst>
  <p:sldSz cx="18288000" cy="10287000"/>
  <p:notesSz cx="6858000" cy="9144000"/>
  <p:embeddedFontLst>
    <p:embeddedFont>
      <p:font typeface="Arial Bold" panose="020B0704020202020204" pitchFamily="34" charset="0"/>
      <p:regular r:id="rId18"/>
      <p:bold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Archive" panose="020B0604020202020204" charset="0"/>
      <p:regular r:id="rId24"/>
    </p:embeddedFont>
    <p:embeddedFont>
      <p:font typeface="Bahnschrift SemiBold" panose="020B0502040204020203" pitchFamily="34" charset="0"/>
      <p:bold r:id="rId25"/>
    </p:embeddedFont>
    <p:embeddedFont>
      <p:font typeface="Bahnschrift" panose="020B0502040204020203" pitchFamily="34" charset="0"/>
      <p:regular r:id="rId26"/>
      <p:bold r:id="rId27"/>
    </p:embeddedFont>
    <p:embeddedFont>
      <p:font typeface="Arial" panose="020B0604020202020204" pitchFamily="34" charset="0"/>
      <p:regular r:id="rId28"/>
    </p:embeddedFont>
    <p:embeddedFont>
      <p:font typeface="Arial Rounded MT Bold" panose="020F0704030504030204" pitchFamily="3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076" autoAdjust="0"/>
    <p:restoredTop sz="94622" autoAdjust="0"/>
  </p:normalViewPr>
  <p:slideViewPr>
    <p:cSldViewPr>
      <p:cViewPr varScale="1">
        <p:scale>
          <a:sx n="55" d="100"/>
          <a:sy n="55" d="100"/>
        </p:scale>
        <p:origin x="278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17.04.2025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14059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3868400" y="7445542"/>
            <a:ext cx="8199274" cy="8382157"/>
          </a:xfrm>
          <a:custGeom>
            <a:avLst/>
            <a:gdLst/>
            <a:ahLst/>
            <a:cxnLst/>
            <a:rect l="l" t="t" r="r" b="b"/>
            <a:pathLst>
              <a:path w="8199274" h="8382157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5047000" y="4482774"/>
            <a:ext cx="16992600" cy="13214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66"/>
              </a:lnSpc>
            </a:pPr>
            <a:r>
              <a:rPr lang="en-US" sz="96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OS Scheduler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>
            <a:off x="13611951" y="5528032"/>
            <a:ext cx="8199274" cy="8382157"/>
          </a:xfrm>
          <a:custGeom>
            <a:avLst/>
            <a:gdLst/>
            <a:ahLst/>
            <a:cxnLst/>
            <a:rect l="l" t="t" r="r" b="b"/>
            <a:pathLst>
              <a:path w="8199274" h="8382157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16029" y="1241322"/>
            <a:ext cx="4475858" cy="801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6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AGENDA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91314" y="2262629"/>
            <a:ext cx="8757485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49326" lvl="1" indent="-571500" algn="l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</a:p>
          <a:p>
            <a:pPr marL="949326" lvl="1" indent="-571500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Algorithms description</a:t>
            </a:r>
          </a:p>
          <a:p>
            <a:pPr marL="949326" lvl="1" indent="-571500" algn="l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Assumptions</a:t>
            </a:r>
          </a:p>
          <a:p>
            <a:pPr marL="949326" lvl="1" indent="-571500" algn="l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&amp; Output samples</a:t>
            </a:r>
          </a:p>
          <a:p>
            <a:pPr marL="949326" lvl="1" indent="-571500" algn="l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Figures</a:t>
            </a:r>
          </a:p>
          <a:p>
            <a:pPr marL="949326" lvl="1" indent="-571500" algn="l">
              <a:lnSpc>
                <a:spcPts val="4900"/>
              </a:lnSpc>
              <a:buFont typeface="Wingdings" panose="05000000000000000000" pitchFamily="2" charset="2"/>
              <a:buChar char="§"/>
            </a:pPr>
            <a:r>
              <a:rPr lang="en-US" sz="4400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Findings &amp; Key observations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182600" y="6210300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8412" y="843278"/>
            <a:ext cx="7893588" cy="830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2006609"/>
            <a:ext cx="17068800" cy="10515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dirty="0"/>
              <a:t>The OS Scheduler Simulator is a desktop application developed using Python and PyQt5. It simulates multiple CPU scheduling algorithms including:</a:t>
            </a:r>
            <a:endParaRPr lang="en-US" sz="3600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F473FCB-A5C6-4059-94FF-B267F923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3671054"/>
            <a:ext cx="174498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FCFS (First Come First Serve)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Non-Preemptive Priority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Round Robin</a:t>
            </a: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571500" marR="0" lvl="0" indent="-5715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SRTF (Shortest Remaining Time First)</a:t>
            </a:r>
          </a:p>
        </p:txBody>
      </p:sp>
    </p:spTree>
    <p:extLst>
      <p:ext uri="{BB962C8B-B14F-4D97-AF65-F5344CB8AC3E}">
        <p14:creationId xmlns:p14="http://schemas.microsoft.com/office/powerpoint/2010/main" val="206670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868400" y="7429500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88412" y="843278"/>
            <a:ext cx="7893588" cy="830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94710" y="2187335"/>
            <a:ext cx="17287112" cy="538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4400" b="1" dirty="0"/>
              <a:t>Key features:</a:t>
            </a:r>
            <a:endParaRPr lang="en-US" sz="4400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F473FCB-A5C6-4059-94FF-B267F9235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310916"/>
            <a:ext cx="1744980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4400" dirty="0"/>
              <a:t>Process generation using statistical distributions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4400" dirty="0"/>
              <a:t>Gantt chart visualization of scheduling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4400" dirty="0"/>
              <a:t>Performance comparison of algorithms via bar graphs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685800" marR="0" lvl="0" indent="-6858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lang="en-US" sz="4400" dirty="0"/>
              <a:t>Exporting results to CSV and PDF formats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15205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4476" y="782586"/>
            <a:ext cx="11005524" cy="7573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0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Algorithms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F44BE-80C4-45EF-B166-12ADAE45D938}"/>
              </a:ext>
            </a:extLst>
          </p:cNvPr>
          <p:cNvSpPr txBox="1"/>
          <p:nvPr/>
        </p:nvSpPr>
        <p:spPr>
          <a:xfrm>
            <a:off x="1143000" y="2552700"/>
            <a:ext cx="160020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Arial Rounded MT Bold" panose="020F0704030504030204" pitchFamily="34" charset="0"/>
              </a:rPr>
              <a:t>FCFS:</a:t>
            </a:r>
            <a:r>
              <a:rPr lang="en-US" sz="3200" dirty="0">
                <a:latin typeface="Arial Rounded MT Bold" panose="020F0704030504030204" pitchFamily="34" charset="0"/>
              </a:rPr>
              <a:t> </a:t>
            </a:r>
            <a:r>
              <a:rPr lang="en-US" sz="3200" dirty="0">
                <a:latin typeface="Bahnschrift" panose="020B0502040204020203" pitchFamily="34" charset="0"/>
              </a:rPr>
              <a:t>Processes are scheduled in the order they arrive in the ready queue. The earliest arriving process is executed first.</a:t>
            </a:r>
          </a:p>
          <a:p>
            <a:endParaRPr lang="en-US" sz="32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GB" sz="3200" b="1" dirty="0">
                <a:latin typeface="Arial Rounded MT Bold" panose="020F0704030504030204" pitchFamily="34" charset="0"/>
              </a:rPr>
              <a:t>Non-</a:t>
            </a:r>
            <a:r>
              <a:rPr lang="en-GB" sz="3200" b="1" dirty="0" err="1">
                <a:latin typeface="Arial Rounded MT Bold" panose="020F0704030504030204" pitchFamily="34" charset="0"/>
              </a:rPr>
              <a:t>Preemptive</a:t>
            </a:r>
            <a:r>
              <a:rPr lang="en-GB" sz="3200" b="1" dirty="0">
                <a:latin typeface="Arial Rounded MT Bold" panose="020F0704030504030204" pitchFamily="34" charset="0"/>
              </a:rPr>
              <a:t> Priority: </a:t>
            </a:r>
            <a:r>
              <a:rPr lang="en-US" sz="3200" dirty="0">
                <a:latin typeface="Bahnschrift" panose="020B0502040204020203" pitchFamily="34" charset="0"/>
              </a:rPr>
              <a:t>Processes are scheduled in the order they arrive in the ready queue. The earliest arriving process is executed first.</a:t>
            </a:r>
            <a:endParaRPr lang="en-US" sz="3200" b="1" dirty="0">
              <a:latin typeface="Bahnschrift" panose="020B0502040204020203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200" dirty="0">
              <a:latin typeface="Bahnschrift" panose="020B0502040204020203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Arial Rounded MT Bold" panose="020F0704030504030204" pitchFamily="34" charset="0"/>
              </a:rPr>
              <a:t>Round Robin: </a:t>
            </a:r>
            <a:r>
              <a:rPr lang="en-US" sz="3200" dirty="0">
                <a:latin typeface="Bahnschrift" panose="020B0502040204020203" pitchFamily="34" charset="0"/>
              </a:rPr>
              <a:t>Each process gets a fixed time slot (quantum) in a cyclic order. If a process doesn’t finish in its time slice, it’s placed at the end of the queue.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200" b="1" dirty="0">
              <a:latin typeface="Bahnschrift" panose="020B0502040204020203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Arial Rounded MT Bold" panose="020F0704030504030204" pitchFamily="34" charset="0"/>
              </a:rPr>
              <a:t>SRTF:</a:t>
            </a:r>
            <a:r>
              <a:rPr lang="en-US" sz="3200" b="1" dirty="0">
                <a:latin typeface="Bahnschrift" panose="020B0502040204020203" pitchFamily="34" charset="0"/>
              </a:rPr>
              <a:t> </a:t>
            </a:r>
            <a:r>
              <a:rPr lang="en-US" sz="3200" dirty="0">
                <a:latin typeface="Bahnschrift" panose="020B0502040204020203" pitchFamily="34" charset="0"/>
              </a:rPr>
              <a:t>The process with the shortest remaining execution time is selected. If a new process arrives with a shorter remaining time, it preempts the current one.</a:t>
            </a:r>
            <a:endParaRPr lang="en-US" sz="3200" b="1" dirty="0">
              <a:latin typeface="Bahnschrift" panose="020B0502040204020203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GB" sz="36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875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2649200" y="6362700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4476" y="782586"/>
            <a:ext cx="7939260" cy="757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0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ASSUMPTIONS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5F44BE-80C4-45EF-B166-12ADAE45D938}"/>
              </a:ext>
            </a:extLst>
          </p:cNvPr>
          <p:cNvSpPr txBox="1"/>
          <p:nvPr/>
        </p:nvSpPr>
        <p:spPr>
          <a:xfrm>
            <a:off x="1295400" y="2095500"/>
            <a:ext cx="145459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Arial Rounded MT Bold" panose="020F0704030504030204" pitchFamily="34" charset="0"/>
              </a:rPr>
              <a:t>We assumed quantum time is fixed at 2(default) for Round Robin and can be changed by user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dirty="0">
                <a:latin typeface="Arial Rounded MT Bold" panose="020F0704030504030204" pitchFamily="34" charset="0"/>
              </a:rPr>
              <a:t>We assumed that the Priority with the </a:t>
            </a:r>
            <a: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lowest</a:t>
            </a:r>
            <a:r>
              <a:rPr lang="en-US" sz="3600" dirty="0">
                <a:latin typeface="Arial Rounded MT Bold" panose="020F0704030504030204" pitchFamily="34" charset="0"/>
              </a:rPr>
              <a:t> number is the </a:t>
            </a:r>
            <a:r>
              <a:rPr lang="en-US" sz="3600" dirty="0">
                <a:solidFill>
                  <a:srgbClr val="C00000"/>
                </a:solidFill>
                <a:latin typeface="Arial Rounded MT Bold" panose="020F0704030504030204" pitchFamily="34" charset="0"/>
              </a:rPr>
              <a:t>highest</a:t>
            </a:r>
            <a:r>
              <a:rPr lang="en-US" sz="3600" dirty="0">
                <a:latin typeface="Arial Rounded MT Bold" panose="020F0704030504030204" pitchFamily="34" charset="0"/>
              </a:rPr>
              <a:t> Priority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US" sz="3600" dirty="0">
              <a:latin typeface="Arial Rounded MT Bold" panose="020F0704030504030204" pitchFamily="34" charset="0"/>
            </a:endParaRPr>
          </a:p>
          <a:p>
            <a:pPr marL="571500" indent="-571500">
              <a:buFont typeface="Wingdings" panose="05000000000000000000" pitchFamily="2" charset="2"/>
              <a:buChar char="q"/>
            </a:pPr>
            <a:endParaRPr lang="en-GB" sz="36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Input &amp; output samples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5400" y="2781300"/>
            <a:ext cx="4909756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 SAMPLE: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5E3230-00AE-42F4-8AA6-A7B52401D4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71900"/>
            <a:ext cx="6174658" cy="4267200"/>
          </a:xfrm>
          <a:prstGeom prst="rect">
            <a:avLst/>
          </a:prstGeom>
        </p:spPr>
      </p:pic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OUTPUT SAMPLE: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B58770-F6EB-41EB-A1B9-12674883D5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6949" y="3760234"/>
            <a:ext cx="6174658" cy="429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4689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 err="1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FIGUReS</a:t>
            </a:r>
            <a:endParaRPr lang="en-US" sz="7200" dirty="0">
              <a:solidFill>
                <a:srgbClr val="DE252C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37010"/>
            <a:ext cx="51816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FCFS GANTT CHART: 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9A639-50AF-4DA8-AC88-E887C35BD389}"/>
              </a:ext>
            </a:extLst>
          </p:cNvPr>
          <p:cNvSpPr txBox="1"/>
          <p:nvPr/>
        </p:nvSpPr>
        <p:spPr>
          <a:xfrm>
            <a:off x="609600" y="8951116"/>
            <a:ext cx="495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Average Waiting Time : 5</a:t>
            </a:r>
          </a:p>
          <a:p>
            <a:r>
              <a:rPr lang="en-US" sz="2400" b="1" dirty="0">
                <a:latin typeface="Arial Rounded MT Bold" panose="020F0704030504030204" pitchFamily="34" charset="0"/>
              </a:rPr>
              <a:t>Average </a:t>
            </a:r>
            <a:r>
              <a:rPr lang="en-US" sz="2400" b="1" dirty="0" err="1">
                <a:latin typeface="Arial Rounded MT Bold" panose="020F0704030504030204" pitchFamily="34" charset="0"/>
              </a:rPr>
              <a:t>TurnAround</a:t>
            </a:r>
            <a:r>
              <a:rPr lang="en-US" sz="2400" b="1" dirty="0">
                <a:latin typeface="Arial Rounded MT Bold" panose="020F0704030504030204" pitchFamily="34" charset="0"/>
              </a:rPr>
              <a:t> Time: 8.2</a:t>
            </a:r>
            <a:endParaRPr lang="en-GB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DF72C4-9039-4743-B793-28B6C2C126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4037" y="2337436"/>
            <a:ext cx="14079926" cy="6613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245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 err="1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FIGUReS</a:t>
            </a:r>
            <a:endParaRPr lang="en-US" sz="7200" dirty="0">
              <a:solidFill>
                <a:srgbClr val="DE252C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37010"/>
            <a:ext cx="104394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Non-Preemptive Priority GANTT CHART: 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3B5FA8-0337-4392-A166-3AFEC24AE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319645"/>
            <a:ext cx="13944600" cy="67035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89A639-50AF-4DA8-AC88-E887C35BD389}"/>
              </a:ext>
            </a:extLst>
          </p:cNvPr>
          <p:cNvSpPr txBox="1"/>
          <p:nvPr/>
        </p:nvSpPr>
        <p:spPr>
          <a:xfrm>
            <a:off x="609600" y="8951116"/>
            <a:ext cx="495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Average Waiting Time : 5.2</a:t>
            </a:r>
          </a:p>
          <a:p>
            <a:r>
              <a:rPr lang="en-US" sz="2400" b="1" dirty="0">
                <a:latin typeface="Arial Rounded MT Bold" panose="020F0704030504030204" pitchFamily="34" charset="0"/>
              </a:rPr>
              <a:t>Average </a:t>
            </a:r>
            <a:r>
              <a:rPr lang="en-US" sz="2400" b="1" dirty="0" err="1">
                <a:latin typeface="Arial Rounded MT Bold" panose="020F0704030504030204" pitchFamily="34" charset="0"/>
              </a:rPr>
              <a:t>TurnAround</a:t>
            </a:r>
            <a:r>
              <a:rPr lang="en-US" sz="2400" b="1" dirty="0">
                <a:latin typeface="Arial Rounded MT Bold" panose="020F0704030504030204" pitchFamily="34" charset="0"/>
              </a:rPr>
              <a:t> Time: 8.4 </a:t>
            </a:r>
            <a:endParaRPr lang="en-GB" sz="2400" b="1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145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 err="1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FIGUReS</a:t>
            </a:r>
            <a:endParaRPr lang="en-US" sz="7200" dirty="0">
              <a:solidFill>
                <a:srgbClr val="DE252C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37010"/>
            <a:ext cx="104394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Round Robin GANTT CHART: 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9A639-50AF-4DA8-AC88-E887C35BD389}"/>
              </a:ext>
            </a:extLst>
          </p:cNvPr>
          <p:cNvSpPr txBox="1"/>
          <p:nvPr/>
        </p:nvSpPr>
        <p:spPr>
          <a:xfrm>
            <a:off x="609600" y="8951116"/>
            <a:ext cx="495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Average Waiting Time : 6.3</a:t>
            </a:r>
          </a:p>
          <a:p>
            <a:r>
              <a:rPr lang="en-US" sz="2400" b="1" dirty="0">
                <a:latin typeface="Arial Rounded MT Bold" panose="020F0704030504030204" pitchFamily="34" charset="0"/>
              </a:rPr>
              <a:t>Average </a:t>
            </a:r>
            <a:r>
              <a:rPr lang="en-US" sz="2400" b="1" dirty="0" err="1">
                <a:latin typeface="Arial Rounded MT Bold" panose="020F0704030504030204" pitchFamily="34" charset="0"/>
              </a:rPr>
              <a:t>TurnAround</a:t>
            </a:r>
            <a:r>
              <a:rPr lang="en-US" sz="2400" b="1" dirty="0">
                <a:latin typeface="Arial Rounded MT Bold" panose="020F0704030504030204" pitchFamily="34" charset="0"/>
              </a:rPr>
              <a:t> Time: 8.5 </a:t>
            </a:r>
            <a:endParaRPr lang="en-GB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07962-1894-4510-AD66-79562B717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2362795"/>
            <a:ext cx="14149884" cy="669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52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4395340" y="8476047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 err="1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FIGUReS</a:t>
            </a:r>
            <a:endParaRPr lang="en-US" sz="7200" dirty="0">
              <a:solidFill>
                <a:srgbClr val="DE252C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37010"/>
            <a:ext cx="104394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SRTF GANTT CHART: 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9A639-50AF-4DA8-AC88-E887C35BD389}"/>
              </a:ext>
            </a:extLst>
          </p:cNvPr>
          <p:cNvSpPr txBox="1"/>
          <p:nvPr/>
        </p:nvSpPr>
        <p:spPr>
          <a:xfrm>
            <a:off x="609600" y="8951116"/>
            <a:ext cx="4953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 Rounded MT Bold" panose="020F0704030504030204" pitchFamily="34" charset="0"/>
              </a:rPr>
              <a:t>Average Waiting Time : 4.8</a:t>
            </a:r>
          </a:p>
          <a:p>
            <a:r>
              <a:rPr lang="en-US" sz="2400" b="1" dirty="0">
                <a:latin typeface="Arial Rounded MT Bold" panose="020F0704030504030204" pitchFamily="34" charset="0"/>
              </a:rPr>
              <a:t>Average </a:t>
            </a:r>
            <a:r>
              <a:rPr lang="en-US" sz="2400" b="1" dirty="0" err="1">
                <a:latin typeface="Arial Rounded MT Bold" panose="020F0704030504030204" pitchFamily="34" charset="0"/>
              </a:rPr>
              <a:t>TurnAround</a:t>
            </a:r>
            <a:r>
              <a:rPr lang="en-US" sz="2400" b="1" dirty="0">
                <a:latin typeface="Arial Rounded MT Bold" panose="020F0704030504030204" pitchFamily="34" charset="0"/>
              </a:rPr>
              <a:t> Time: 8 </a:t>
            </a:r>
            <a:endParaRPr lang="en-GB" sz="2400" b="1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36B59B-7231-40F5-8998-39B1F3196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9753" y="2362795"/>
            <a:ext cx="14108494" cy="6588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779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938478" y="8995388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 err="1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FIGUReS</a:t>
            </a:r>
            <a:endParaRPr lang="en-US" sz="7200" dirty="0">
              <a:solidFill>
                <a:srgbClr val="DE252C"/>
              </a:solidFill>
              <a:latin typeface="Archive"/>
              <a:ea typeface="Archive"/>
              <a:cs typeface="Archive"/>
              <a:sym typeface="Archiv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1837010"/>
            <a:ext cx="10439400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r>
              <a:rPr lang="en-US" sz="3600" b="1" spc="3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all Algorithms GANTT CHART: </a:t>
            </a: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195B03-5035-4EEE-947C-6C8783172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96967"/>
            <a:ext cx="17352315" cy="614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3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13938478" y="8995388"/>
            <a:ext cx="8199274" cy="8382158"/>
          </a:xfrm>
          <a:custGeom>
            <a:avLst/>
            <a:gdLst/>
            <a:ahLst/>
            <a:cxnLst/>
            <a:rect l="l" t="t" r="r" b="b"/>
            <a:pathLst>
              <a:path w="8199274" h="8382158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00444" y="876300"/>
            <a:ext cx="14903988" cy="8011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72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Findings &amp; Key observations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7FA0DF6E-70D3-4696-8551-B3C90C06ACDE}"/>
              </a:ext>
            </a:extLst>
          </p:cNvPr>
          <p:cNvSpPr txBox="1"/>
          <p:nvPr/>
        </p:nvSpPr>
        <p:spPr>
          <a:xfrm>
            <a:off x="10439400" y="2769973"/>
            <a:ext cx="4909756" cy="493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79"/>
              </a:lnSpc>
              <a:spcBef>
                <a:spcPct val="0"/>
              </a:spcBef>
            </a:pPr>
            <a:endParaRPr lang="en-US" sz="3399" b="1" spc="3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93237F0D-82C7-4FA1-814A-F90A2069B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48944"/>
              </p:ext>
            </p:extLst>
          </p:nvPr>
        </p:nvGraphicFramePr>
        <p:xfrm>
          <a:off x="1447800" y="2476500"/>
          <a:ext cx="15621001" cy="628514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26991">
                  <a:extLst>
                    <a:ext uri="{9D8B030D-6E8A-4147-A177-3AD203B41FA5}">
                      <a16:colId xmlns:a16="http://schemas.microsoft.com/office/drawing/2014/main" val="3457778508"/>
                    </a:ext>
                  </a:extLst>
                </a:gridCol>
                <a:gridCol w="3762672">
                  <a:extLst>
                    <a:ext uri="{9D8B030D-6E8A-4147-A177-3AD203B41FA5}">
                      <a16:colId xmlns:a16="http://schemas.microsoft.com/office/drawing/2014/main" val="268644141"/>
                    </a:ext>
                  </a:extLst>
                </a:gridCol>
                <a:gridCol w="4115669">
                  <a:extLst>
                    <a:ext uri="{9D8B030D-6E8A-4147-A177-3AD203B41FA5}">
                      <a16:colId xmlns:a16="http://schemas.microsoft.com/office/drawing/2014/main" val="4121653165"/>
                    </a:ext>
                  </a:extLst>
                </a:gridCol>
                <a:gridCol w="4115669">
                  <a:extLst>
                    <a:ext uri="{9D8B030D-6E8A-4147-A177-3AD203B41FA5}">
                      <a16:colId xmlns:a16="http://schemas.microsoft.com/office/drawing/2014/main" val="3759869358"/>
                    </a:ext>
                  </a:extLst>
                </a:gridCol>
              </a:tblGrid>
              <a:tr h="13629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ALGORITHM</a:t>
                      </a:r>
                      <a:endParaRPr lang="en-GB" sz="2800" dirty="0">
                        <a:latin typeface="Arial Bold" panose="020B0704020202020204" pitchFamily="34" charset="0"/>
                        <a:cs typeface="Arial Bold" panose="020B0704020202020204" pitchFamily="34" charset="0"/>
                      </a:endParaRPr>
                    </a:p>
                    <a:p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Average Waiting </a:t>
                      </a:r>
                      <a:r>
                        <a:rPr lang="en-US" sz="2800" dirty="0" err="1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TIme</a:t>
                      </a:r>
                      <a:endParaRPr lang="en-GB" sz="2800" dirty="0">
                        <a:latin typeface="Arial Bold" panose="020B0704020202020204" pitchFamily="34" charset="0"/>
                        <a:cs typeface="Arial Bold" panose="020B0704020202020204" pitchFamily="34" charset="0"/>
                      </a:endParaRPr>
                    </a:p>
                    <a:p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Average </a:t>
                      </a:r>
                      <a:r>
                        <a:rPr lang="en-US" sz="2800" dirty="0" err="1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TurnAround</a:t>
                      </a:r>
                      <a:r>
                        <a:rPr lang="en-US" sz="2800" dirty="0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 </a:t>
                      </a:r>
                      <a:r>
                        <a:rPr lang="en-US" sz="2800" dirty="0" err="1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TIme</a:t>
                      </a:r>
                      <a:endParaRPr lang="en-GB" sz="2800" dirty="0">
                        <a:latin typeface="Arial Bold" panose="020B0704020202020204" pitchFamily="34" charset="0"/>
                        <a:cs typeface="Arial Bold" panose="020B0704020202020204" pitchFamily="34" charset="0"/>
                      </a:endParaRPr>
                    </a:p>
                    <a:p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latin typeface="Arial Bold" panose="020B0704020202020204" pitchFamily="34" charset="0"/>
                          <a:cs typeface="Arial Bold" panose="020B0704020202020204" pitchFamily="34" charset="0"/>
                        </a:rPr>
                        <a:t>Key Observation</a:t>
                      </a:r>
                      <a:endParaRPr lang="en-GB" sz="2800" dirty="0">
                        <a:latin typeface="Arial Bold" panose="020B0704020202020204" pitchFamily="34" charset="0"/>
                        <a:cs typeface="Arial Bold" panose="020B0704020202020204" pitchFamily="34" charset="0"/>
                      </a:endParaRPr>
                    </a:p>
                    <a:p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0821044"/>
                  </a:ext>
                </a:extLst>
              </a:tr>
              <a:tr h="1144694">
                <a:tc>
                  <a:txBody>
                    <a:bodyPr/>
                    <a:lstStyle/>
                    <a:p>
                      <a:pPr algn="l"/>
                      <a:r>
                        <a:rPr lang="en-US" sz="2400" b="1" dirty="0">
                          <a:latin typeface="Arial Rounded MT Bold" panose="020F0704030504030204" pitchFamily="34" charset="0"/>
                        </a:rPr>
                        <a:t>FCFS</a:t>
                      </a:r>
                      <a:endParaRPr lang="en-GB" sz="2400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5</a:t>
                      </a:r>
                      <a:endParaRPr lang="en-GB" dirty="0">
                        <a:latin typeface="Arial Rounded MT Bold" panose="020F0704030504030204" pitchFamily="34" charset="0"/>
                        <a:cs typeface="Arial Bold" panose="020B07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0" dirty="0">
                          <a:latin typeface="Arial Rounded MT Bold" panose="020F0704030504030204" pitchFamily="34" charset="0"/>
                        </a:rPr>
                        <a:t>8.2</a:t>
                      </a:r>
                      <a:endParaRPr lang="en-GB" sz="2800" b="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ahnschrift SemiBold" panose="020B0502040204020203" pitchFamily="34" charset="0"/>
                        </a:rPr>
                        <a:t>Simple, fair order, affected by convoy effect, not optimal for mixed-length processes</a:t>
                      </a:r>
                      <a:endParaRPr lang="en-GB" sz="2000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196943"/>
                  </a:ext>
                </a:extLst>
              </a:tr>
              <a:tr h="1144694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Arial Rounded MT Bold" panose="020F0704030504030204" pitchFamily="34" charset="0"/>
                        </a:rPr>
                        <a:t>Non-Preemptive</a:t>
                      </a:r>
                      <a:endParaRPr lang="en-GB" sz="2800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5.2</a:t>
                      </a:r>
                      <a:endParaRPr lang="en-GB" sz="2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8.4</a:t>
                      </a:r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ahnschrift SemiBold" panose="020B0502040204020203" pitchFamily="34" charset="0"/>
                        </a:rPr>
                        <a:t>Slightly worse than FCFS, priority impact is minimal without preemption</a:t>
                      </a:r>
                      <a:endParaRPr lang="en-GB" sz="2000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770776"/>
                  </a:ext>
                </a:extLst>
              </a:tr>
              <a:tr h="1144694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Arial Rounded MT Bold" panose="020F0704030504030204" pitchFamily="34" charset="0"/>
                        </a:rPr>
                        <a:t>Round Robin</a:t>
                      </a:r>
                      <a:endParaRPr lang="en-GB" sz="2800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6.3</a:t>
                      </a:r>
                      <a:endParaRPr lang="en-GB" sz="2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8.5</a:t>
                      </a:r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ahnschrift SemiBold" panose="020B0502040204020203" pitchFamily="34" charset="0"/>
                        </a:rPr>
                        <a:t>Highest waiting and turnaround times, performance depends on time quantum size</a:t>
                      </a:r>
                      <a:endParaRPr lang="en-GB" sz="2000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913801"/>
                  </a:ext>
                </a:extLst>
              </a:tr>
              <a:tr h="1488102">
                <a:tc>
                  <a:txBody>
                    <a:bodyPr/>
                    <a:lstStyle/>
                    <a:p>
                      <a:r>
                        <a:rPr lang="en-US" sz="2800" b="1" dirty="0">
                          <a:latin typeface="Arial Rounded MT Bold" panose="020F0704030504030204" pitchFamily="34" charset="0"/>
                        </a:rPr>
                        <a:t>SRTF</a:t>
                      </a:r>
                      <a:endParaRPr lang="en-GB" b="1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4.8</a:t>
                      </a:r>
                      <a:endParaRPr lang="en-GB" sz="2800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Arial Rounded MT Bold" panose="020F0704030504030204" pitchFamily="34" charset="0"/>
                        </a:rPr>
                        <a:t>8</a:t>
                      </a:r>
                      <a:endParaRPr lang="en-GB" dirty="0">
                        <a:latin typeface="Arial Rounded MT Bold" panose="020F07040305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Bahnschrift SemiBold" panose="020B0502040204020203" pitchFamily="34" charset="0"/>
                        </a:rPr>
                        <a:t>Best performance, lowest Waiting Time, minimizes both metrics, effective when burst times are known</a:t>
                      </a:r>
                      <a:endParaRPr lang="en-GB" sz="2000" dirty="0">
                        <a:latin typeface="Bahnschrift SemiBold" panose="020B05020402040202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37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127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>
          <a:xfrm>
            <a:off x="14188363" y="8877300"/>
            <a:ext cx="8199274" cy="8382157"/>
          </a:xfrm>
          <a:custGeom>
            <a:avLst/>
            <a:gdLst/>
            <a:ahLst/>
            <a:cxnLst/>
            <a:rect l="l" t="t" r="r" b="b"/>
            <a:pathLst>
              <a:path w="8199274" h="8382157">
                <a:moveTo>
                  <a:pt x="0" y="0"/>
                </a:moveTo>
                <a:lnTo>
                  <a:pt x="8199274" y="0"/>
                </a:lnTo>
                <a:lnTo>
                  <a:pt x="8199274" y="8382157"/>
                </a:lnTo>
                <a:lnTo>
                  <a:pt x="0" y="838215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8" name="TextBox 8"/>
          <p:cNvSpPr txBox="1"/>
          <p:nvPr/>
        </p:nvSpPr>
        <p:spPr>
          <a:xfrm>
            <a:off x="5867400" y="284844"/>
            <a:ext cx="9646667" cy="1212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66"/>
              </a:lnSpc>
            </a:pPr>
            <a:r>
              <a:rPr lang="en-US" sz="6600" dirty="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Team members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EE73126-BD38-4193-AB00-539D5C865C02}"/>
              </a:ext>
            </a:extLst>
          </p:cNvPr>
          <p:cNvGrpSpPr/>
          <p:nvPr/>
        </p:nvGrpSpPr>
        <p:grpSpPr>
          <a:xfrm>
            <a:off x="3200400" y="1714500"/>
            <a:ext cx="12618467" cy="7848600"/>
            <a:chOff x="2971800" y="1562100"/>
            <a:chExt cx="12618467" cy="78486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E5AC1F9-91D3-447A-A06B-57B455A47A86}"/>
                </a:ext>
              </a:extLst>
            </p:cNvPr>
            <p:cNvSpPr/>
            <p:nvPr/>
          </p:nvSpPr>
          <p:spPr>
            <a:xfrm>
              <a:off x="2971800" y="1562100"/>
              <a:ext cx="12618467" cy="7848600"/>
            </a:xfrm>
            <a:prstGeom prst="rect">
              <a:avLst/>
            </a:prstGeom>
            <a:gradFill>
              <a:gsLst>
                <a:gs pos="0">
                  <a:schemeClr val="dk1">
                    <a:lumMod val="67000"/>
                  </a:schemeClr>
                </a:gs>
                <a:gs pos="48000">
                  <a:schemeClr val="dk1">
                    <a:lumMod val="97000"/>
                    <a:lumOff val="3000"/>
                  </a:schemeClr>
                </a:gs>
                <a:gs pos="100000">
                  <a:schemeClr val="dk1">
                    <a:lumMod val="60000"/>
                    <a:lumOff val="4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" name="TextBox 8">
              <a:extLst>
                <a:ext uri="{FF2B5EF4-FFF2-40B4-BE49-F238E27FC236}">
                  <a16:creationId xmlns:a16="http://schemas.microsoft.com/office/drawing/2014/main" id="{CFD23D8D-FBBF-4711-A2DC-1C44593CFEC0}"/>
                </a:ext>
              </a:extLst>
            </p:cNvPr>
            <p:cNvSpPr txBox="1"/>
            <p:nvPr/>
          </p:nvSpPr>
          <p:spPr>
            <a:xfrm>
              <a:off x="4764506" y="1997286"/>
              <a:ext cx="9646667" cy="64761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0066"/>
                </a:lnSpc>
              </a:pPr>
              <a:r>
                <a:rPr lang="en-US" sz="4800" dirty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Mohamed Saeid   		407  C4</a:t>
              </a:r>
            </a:p>
            <a:p>
              <a:pPr algn="l">
                <a:lnSpc>
                  <a:spcPts val="10066"/>
                </a:lnSpc>
              </a:pPr>
              <a:r>
                <a:rPr lang="en-US" sz="4800" dirty="0" smtClean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Youanas </a:t>
              </a:r>
              <a:r>
                <a:rPr lang="en-US" sz="4800" dirty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Ibrahim 		403  C4</a:t>
              </a:r>
            </a:p>
            <a:p>
              <a:pPr algn="l">
                <a:lnSpc>
                  <a:spcPts val="10066"/>
                </a:lnSpc>
              </a:pPr>
              <a:r>
                <a:rPr lang="en-US" sz="4800" dirty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Farouq Abdellatif 		406  C4</a:t>
              </a:r>
            </a:p>
            <a:p>
              <a:pPr algn="l">
                <a:lnSpc>
                  <a:spcPts val="10066"/>
                </a:lnSpc>
              </a:pPr>
              <a:r>
                <a:rPr lang="en-US" sz="4800" dirty="0" smtClean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Ahmed </a:t>
              </a:r>
              <a:r>
                <a:rPr lang="en-US" sz="4800" dirty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Emam 			409  C4</a:t>
              </a:r>
            </a:p>
            <a:p>
              <a:pPr algn="l">
                <a:lnSpc>
                  <a:spcPts val="10066"/>
                </a:lnSpc>
              </a:pPr>
              <a:r>
                <a:rPr lang="en-US" sz="4800" dirty="0">
                  <a:solidFill>
                    <a:schemeClr val="bg1"/>
                  </a:solidFill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Andrew Adel			420  C4</a:t>
              </a:r>
              <a:r>
                <a:rPr lang="en-US" sz="4800" dirty="0">
                  <a:latin typeface="Arial Bold" panose="020B0704020202020204" pitchFamily="34" charset="0"/>
                  <a:ea typeface="Archive"/>
                  <a:cs typeface="Arial Bold" panose="020B0704020202020204" pitchFamily="34" charset="0"/>
                  <a:sym typeface="Archive"/>
                </a:rPr>
                <a:t>	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16530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266981" y="2952750"/>
            <a:ext cx="13754038" cy="4895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600"/>
              </a:lnSpc>
            </a:pPr>
            <a:r>
              <a:rPr lang="en-US" sz="20000">
                <a:solidFill>
                  <a:srgbClr val="DE252C"/>
                </a:solidFill>
                <a:latin typeface="Archive"/>
                <a:ea typeface="Archive"/>
                <a:cs typeface="Archive"/>
                <a:sym typeface="Archiv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405</Words>
  <Application>Microsoft Office PowerPoint</Application>
  <PresentationFormat>Custom</PresentationFormat>
  <Paragraphs>96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Wingdings</vt:lpstr>
      <vt:lpstr>Arial Bold</vt:lpstr>
      <vt:lpstr>Calibri</vt:lpstr>
      <vt:lpstr>Archive</vt:lpstr>
      <vt:lpstr>Bahnschrift SemiBold</vt:lpstr>
      <vt:lpstr>Bahnschrift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Theory of Algorithms Lab 3</dc:title>
  <dc:creator>moham</dc:creator>
  <cp:lastModifiedBy>moham</cp:lastModifiedBy>
  <cp:revision>38</cp:revision>
  <dcterms:created xsi:type="dcterms:W3CDTF">2006-08-16T00:00:00Z</dcterms:created>
  <dcterms:modified xsi:type="dcterms:W3CDTF">2025-04-17T10:18:08Z</dcterms:modified>
  <dc:identifier>DAGgh87ic6U</dc:identifier>
</cp:coreProperties>
</file>